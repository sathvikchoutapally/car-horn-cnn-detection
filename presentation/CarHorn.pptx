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7477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|  CNN + AUDIO CLASSIFICATION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Based Car Model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Using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65760" y="22128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Horn Sound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Signal Processing  •  Deep Learning  •  Transfer Learning  •  Image Classification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703320"/>
            <a:ext cx="8412480" cy="27432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3840480"/>
            <a:ext cx="1115568" cy="292608"/>
          </a:xfrm>
          <a:prstGeom prst="roundRect">
            <a:avLst>
              <a:gd name="adj" fmla="val 15625"/>
            </a:avLst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84048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81912" y="3840480"/>
            <a:ext cx="1115568" cy="292608"/>
          </a:xfrm>
          <a:prstGeom prst="roundRect">
            <a:avLst>
              <a:gd name="adj" fmla="val 15625"/>
            </a:avLst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1581912" y="384048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98064" y="3840480"/>
            <a:ext cx="1115568" cy="292608"/>
          </a:xfrm>
          <a:prstGeom prst="roundRect">
            <a:avLst>
              <a:gd name="adj" fmla="val 15625"/>
            </a:avLst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2798064" y="384048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14216" y="3840480"/>
            <a:ext cx="1115568" cy="292608"/>
          </a:xfrm>
          <a:prstGeom prst="roundRect">
            <a:avLst>
              <a:gd name="adj" fmla="val 15625"/>
            </a:avLst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014216" y="384048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30368" y="3840480"/>
            <a:ext cx="1115568" cy="292608"/>
          </a:xfrm>
          <a:prstGeom prst="roundRect">
            <a:avLst>
              <a:gd name="adj" fmla="val 15625"/>
            </a:avLst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5230368" y="384048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Spectrogram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46520" y="3840480"/>
            <a:ext cx="1115568" cy="292608"/>
          </a:xfrm>
          <a:prstGeom prst="roundRect">
            <a:avLst>
              <a:gd name="adj" fmla="val 15625"/>
            </a:avLst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84048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62672" y="3840480"/>
            <a:ext cx="1115568" cy="292608"/>
          </a:xfrm>
          <a:prstGeom prst="roundRect">
            <a:avLst>
              <a:gd name="adj" fmla="val 15625"/>
            </a:avLst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7662672" y="384048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-548640"/>
            <a:ext cx="3291840" cy="3291840"/>
          </a:xfrm>
          <a:prstGeom prst="ellipse">
            <a:avLst/>
          </a:prstGeom>
          <a:solidFill>
            <a:srgbClr val="E63946">
              <a:alpha val="25000"/>
            </a:srgbClr>
          </a:solidFill>
          <a:ln w="6350">
            <a:solidFill>
              <a:srgbClr val="E63946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-91440"/>
            <a:ext cx="2377440" cy="2377440"/>
          </a:xfrm>
          <a:prstGeom prst="ellipse">
            <a:avLst/>
          </a:prstGeom>
          <a:solidFill>
            <a:srgbClr val="E63946">
              <a:alpha val="20000"/>
            </a:srgbClr>
          </a:solidFill>
          <a:ln w="6350">
            <a:solidFill>
              <a:srgbClr val="E63946">
                <a:alpha val="4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365760"/>
            <a:ext cx="1463040" cy="1463040"/>
          </a:xfrm>
          <a:prstGeom prst="ellipse">
            <a:avLst/>
          </a:prstGeom>
          <a:solidFill>
            <a:srgbClr val="E63946">
              <a:alpha val="15000"/>
            </a:srgbClr>
          </a:solidFill>
          <a:ln w="6350">
            <a:solidFill>
              <a:srgbClr val="E63946">
                <a:alpha val="3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777240"/>
            <a:ext cx="640080" cy="640080"/>
          </a:xfrm>
          <a:prstGeom prst="ellipse">
            <a:avLst/>
          </a:prstGeom>
          <a:solidFill>
            <a:srgbClr val="E63946">
              <a:alpha val="10000"/>
            </a:srgbClr>
          </a:solidFill>
          <a:ln w="6350">
            <a:solidFill>
              <a:srgbClr val="E63946">
                <a:alpha val="2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28432" y="1261872"/>
            <a:ext cx="402336" cy="402336"/>
          </a:xfrm>
          <a:prstGeom prst="ellipse">
            <a:avLst/>
          </a:prstGeom>
          <a:solidFill>
            <a:srgbClr val="E6394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we identify a car model just by listening to its horn?"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6974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20240"/>
            <a:ext cx="2697480" cy="91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057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 model has a distinct horn frequency and timbre — but identifying it manually is difficult, inconsistent, and time-consuming.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1920240"/>
            <a:ext cx="26974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920240"/>
            <a:ext cx="2697480" cy="9144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057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46888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in smart traffic systems, vehicle identification in fog/night conditions, and law-enforcement vehicle monitoring.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6974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920240"/>
            <a:ext cx="2697480" cy="9144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057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468880"/>
            <a:ext cx="2423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horn audio → convert to Mel Spectrogram &amp; MFCC images → train CNN (GoogLeNet / ResNet50) to classify car model.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1737360"/>
          </a:xfrm>
          <a:prstGeom prst="rect">
            <a:avLst/>
          </a:prstGeom>
          <a:solidFill>
            <a:srgbClr val="1B3A5C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475488" cy="47548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4984" y="1143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car horn files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(.mp3 / .m4a / no-ext)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1828800"/>
            <a:ext cx="18288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154680" y="960120"/>
            <a:ext cx="2651760" cy="1737360"/>
          </a:xfrm>
          <a:prstGeom prst="rect">
            <a:avLst/>
          </a:prstGeom>
          <a:solidFill>
            <a:srgbClr val="1B3A5C"/>
          </a:solidFill>
          <a:ln w="19050">
            <a:solidFill>
              <a:srgbClr val="A8DA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43000"/>
            <a:ext cx="475488" cy="475488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9624" y="1143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7647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transforms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Gaussian, pitch, stretch…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1828800"/>
            <a:ext cx="18288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89320" y="960120"/>
            <a:ext cx="2651760" cy="1737360"/>
          </a:xfrm>
          <a:prstGeom prst="rect">
            <a:avLst/>
          </a:prstGeom>
          <a:solidFill>
            <a:srgbClr val="1B3A5C"/>
          </a:solidFill>
          <a:ln w="1905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143000"/>
            <a:ext cx="475488" cy="475488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84264" y="1143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17647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Spectrogram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MFCC images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971800"/>
            <a:ext cx="2651760" cy="1737360"/>
          </a:xfrm>
          <a:prstGeom prst="rect">
            <a:avLst/>
          </a:prstGeom>
          <a:solidFill>
            <a:srgbClr val="1B3A5C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154680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14984" y="31546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7764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val / 15% test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71800" y="3840480"/>
            <a:ext cx="18288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3154680" y="2971800"/>
            <a:ext cx="2651760" cy="1737360"/>
          </a:xfrm>
          <a:prstGeom prst="rect">
            <a:avLst/>
          </a:prstGeom>
          <a:solidFill>
            <a:srgbClr val="1B3A5C"/>
          </a:solidFill>
          <a:ln w="1905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3154680"/>
            <a:ext cx="475488" cy="475488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49624" y="31546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Training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91840" y="37764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 &amp;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06440" y="3840480"/>
            <a:ext cx="18288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5989320" y="2971800"/>
            <a:ext cx="2651760" cy="1737360"/>
          </a:xfrm>
          <a:prstGeom prst="rect">
            <a:avLst/>
          </a:prstGeom>
          <a:solidFill>
            <a:srgbClr val="1B3A5C"/>
          </a:solidFill>
          <a:ln w="19050">
            <a:solidFill>
              <a:srgbClr val="457B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154680"/>
            <a:ext cx="475488" cy="47548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84264" y="31546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26480" y="37764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filter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Majority voting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Augmentation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886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388620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9728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Statistics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3886200" cy="310896"/>
          </a:xfrm>
          <a:prstGeom prst="rect">
            <a:avLst/>
          </a:prstGeom>
          <a:solidFill>
            <a:srgbClr val="F1FAE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6459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Models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23160" y="164592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956816"/>
            <a:ext cx="38862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95681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 Files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23160" y="195681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files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3886200" cy="310896"/>
          </a:xfrm>
          <a:prstGeom prst="rect">
            <a:avLst/>
          </a:prstGeom>
          <a:solidFill>
            <a:srgbClr val="F1FAEE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26771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23160" y="226771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.mp3, .m4a, no-extension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578608"/>
            <a:ext cx="38862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5786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per file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23160" y="257860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seconds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889504"/>
            <a:ext cx="3886200" cy="310896"/>
          </a:xfrm>
          <a:prstGeom prst="rect">
            <a:avLst/>
          </a:prstGeom>
          <a:solidFill>
            <a:srgbClr val="F1FAEE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8895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23160" y="2889504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sec (50% overlap)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38862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2004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per file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23160" y="320040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chunks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511296"/>
            <a:ext cx="3886200" cy="310896"/>
          </a:xfrm>
          <a:prstGeom prst="rect">
            <a:avLst/>
          </a:prstGeom>
          <a:solidFill>
            <a:srgbClr val="F1FAEE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51129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23160" y="351129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types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822192"/>
            <a:ext cx="38862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82219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per chunk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23160" y="382219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(Spec + MFCC)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133088"/>
            <a:ext cx="3886200" cy="310896"/>
          </a:xfrm>
          <a:prstGeom prst="rect">
            <a:avLst/>
          </a:prstGeom>
          <a:solidFill>
            <a:srgbClr val="F1FAEE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41330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423160" y="413308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~3,200+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4443984"/>
            <a:ext cx="38862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44439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423160" y="4443984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15 %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34840" y="1097280"/>
            <a:ext cx="44348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434840" y="1097280"/>
            <a:ext cx="4434840" cy="43891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109728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Augmentation Techniques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17720" y="1773936"/>
            <a:ext cx="182880" cy="1828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166420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46520" y="16642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road background noise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17720" y="2231136"/>
            <a:ext cx="182880" cy="1828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212140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Shift ↑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46520" y="21214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frequency variation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17720" y="2688336"/>
            <a:ext cx="182880" cy="1828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257860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Shift 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46520" y="25786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frequency variation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17720" y="3145536"/>
            <a:ext cx="182880" cy="1828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1" name="Text 49"/>
          <p:cNvSpPr/>
          <p:nvPr/>
        </p:nvSpPr>
        <p:spPr>
          <a:xfrm>
            <a:off x="4892040" y="303580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Stretch ↑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46520" y="30358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horn playback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617720" y="3602736"/>
            <a:ext cx="182880" cy="1828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4" name="Text 52"/>
          <p:cNvSpPr/>
          <p:nvPr/>
        </p:nvSpPr>
        <p:spPr>
          <a:xfrm>
            <a:off x="4892040" y="349300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Stretch 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46520" y="34930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horn playback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617720" y="4059936"/>
            <a:ext cx="182880" cy="1828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7" name="Text 55"/>
          <p:cNvSpPr/>
          <p:nvPr/>
        </p:nvSpPr>
        <p:spPr>
          <a:xfrm>
            <a:off x="4892040" y="395020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(±6dB)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46520" y="39502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variation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617720" y="4517136"/>
            <a:ext cx="182880" cy="1828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0" name="Text 58"/>
          <p:cNvSpPr/>
          <p:nvPr/>
        </p:nvSpPr>
        <p:spPr>
          <a:xfrm>
            <a:off x="4892040" y="440740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Shift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46520" y="44074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offset of clip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— Mel Spectrogram &amp; MFCC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1508760" cy="868680"/>
          </a:xfrm>
          <a:prstGeom prst="rect">
            <a:avLst/>
          </a:prstGeom>
          <a:solidFill>
            <a:srgbClr val="1B3A5C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(.mp3/.m4a)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783080" y="1389888"/>
            <a:ext cx="210312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993392" y="960120"/>
            <a:ext cx="1508760" cy="868680"/>
          </a:xfrm>
          <a:prstGeom prst="rect">
            <a:avLst/>
          </a:prstGeom>
          <a:solidFill>
            <a:srgbClr val="1B3A5C"/>
          </a:solidFill>
          <a:ln w="19050">
            <a:solidFill>
              <a:srgbClr val="457B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9601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with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02152" y="1389888"/>
            <a:ext cx="210312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712464" y="960120"/>
            <a:ext cx="1508760" cy="868680"/>
          </a:xfrm>
          <a:prstGeom prst="rect">
            <a:avLst/>
          </a:prstGeom>
          <a:solidFill>
            <a:srgbClr val="1B3A5C"/>
          </a:solidFill>
          <a:ln w="19050">
            <a:solidFill>
              <a:srgbClr val="A8DA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9601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 chunks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21224" y="1389888"/>
            <a:ext cx="210312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31536" y="960120"/>
            <a:ext cx="1508760" cy="868680"/>
          </a:xfrm>
          <a:prstGeom prst="rect">
            <a:avLst/>
          </a:prstGeom>
          <a:solidFill>
            <a:srgbClr val="1B3A5C"/>
          </a:solidFill>
          <a:ln w="19050">
            <a:solidFill>
              <a:srgbClr val="7B2D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9601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Spec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MFCC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0296" y="1389888"/>
            <a:ext cx="210312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150608" y="960120"/>
            <a:ext cx="1508760" cy="868680"/>
          </a:xfrm>
          <a:prstGeom prst="rect">
            <a:avLst/>
          </a:prstGeom>
          <a:solidFill>
            <a:srgbClr val="1B3A5C"/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9601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image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011680"/>
            <a:ext cx="4114800" cy="2697480"/>
          </a:xfrm>
          <a:prstGeom prst="rect">
            <a:avLst/>
          </a:prstGeom>
          <a:solidFill>
            <a:srgbClr val="1B3A5C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011680"/>
            <a:ext cx="4114800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Spectrogram  (cmap: inferno)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8912" y="2596896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5420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audio to frequency vs time image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" y="2980944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9260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Mel scale — mimics human hearing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" y="3364992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3101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converted to dB (log scale)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" y="3749040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941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frequency bins × time frames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" y="4133088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0782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horn pitch &amp; timbre patterns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011680"/>
            <a:ext cx="4114800" cy="2697480"/>
          </a:xfrm>
          <a:prstGeom prst="rect">
            <a:avLst/>
          </a:prstGeom>
          <a:solidFill>
            <a:srgbClr val="1B3A5C"/>
          </a:solidFill>
          <a:ln w="1905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011680"/>
            <a:ext cx="4114800" cy="4572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 (cmap: viridis)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919472" y="2596896"/>
            <a:ext cx="128016" cy="128016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5420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Frequency Cepstral Coefficients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19472" y="2980944"/>
            <a:ext cx="128016" cy="128016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29260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MFCC coefficients extracted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19472" y="3364992"/>
            <a:ext cx="128016" cy="128016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40" name="Text 38"/>
          <p:cNvSpPr/>
          <p:nvPr/>
        </p:nvSpPr>
        <p:spPr>
          <a:xfrm>
            <a:off x="5120640" y="33101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vocal-tract like characteristics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19472" y="3749040"/>
            <a:ext cx="128016" cy="128016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0" y="36941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at capturing texture/timbre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19472" y="4133088"/>
            <a:ext cx="128016" cy="128016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44" name="Text 42"/>
          <p:cNvSpPr/>
          <p:nvPr/>
        </p:nvSpPr>
        <p:spPr>
          <a:xfrm>
            <a:off x="5120640" y="40782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to Mel Spectrogram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Two CNN Models Compared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457B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475488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 (Inception v1)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4114800" cy="374904"/>
          </a:xfrm>
          <a:prstGeom prst="rect">
            <a:avLst/>
          </a:prstGeom>
          <a:solidFill>
            <a:srgbClr val="F1FAE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645920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83080" y="1645920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weights (pretrained=True)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020824"/>
            <a:ext cx="411480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020824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layers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83080" y="2020824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frozen except final fc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395728"/>
            <a:ext cx="4114800" cy="374904"/>
          </a:xfrm>
          <a:prstGeom prst="rect">
            <a:avLst/>
          </a:prstGeom>
          <a:solidFill>
            <a:srgbClr val="F1FAEE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395728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layer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83080" y="2395728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replaced → Linear(1024, 26)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770632"/>
            <a:ext cx="411480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770632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83080" y="277063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= 0.001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145536"/>
            <a:ext cx="4114800" cy="374904"/>
          </a:xfrm>
          <a:prstGeom prst="rect">
            <a:avLst/>
          </a:prstGeom>
          <a:solidFill>
            <a:srgbClr val="F1FAEE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145536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83080" y="3145536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520440"/>
            <a:ext cx="411480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520440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783080" y="3520440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epochs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895344"/>
            <a:ext cx="4114800" cy="374904"/>
          </a:xfrm>
          <a:prstGeom prst="rect">
            <a:avLst/>
          </a:prstGeom>
          <a:solidFill>
            <a:srgbClr val="F1FAEE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895344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83080" y="3895344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270248"/>
            <a:ext cx="411480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270248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83080" y="4270248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→ outputs[0] used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1051560"/>
            <a:ext cx="41148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051560"/>
            <a:ext cx="4114800" cy="47548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10515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(Fine-Tuned)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54880" y="1645920"/>
            <a:ext cx="4114800" cy="374904"/>
          </a:xfrm>
          <a:prstGeom prst="rect">
            <a:avLst/>
          </a:prstGeom>
          <a:solidFill>
            <a:srgbClr val="F1FAEE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1645920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63640" y="1645920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weights (pretrained=True)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2020824"/>
            <a:ext cx="411480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2020824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63640" y="2020824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 frozen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2395728"/>
            <a:ext cx="4114800" cy="374904"/>
          </a:xfrm>
          <a:prstGeom prst="rect">
            <a:avLst/>
          </a:prstGeom>
          <a:solidFill>
            <a:srgbClr val="F1FAEE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2395728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Unfrozen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63640" y="2395728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layer3 + layer4 trainable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2770632"/>
            <a:ext cx="411480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2770632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layer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63640" y="277063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Dropout(0.5) + Linear(2048, 26)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54880" y="3145536"/>
            <a:ext cx="4114800" cy="374904"/>
          </a:xfrm>
          <a:prstGeom prst="rect">
            <a:avLst/>
          </a:prstGeom>
          <a:solidFill>
            <a:srgbClr val="F1FAEE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3145536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63640" y="3145536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(layer-wise LR: 1e-4 / 1e-3)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54880" y="3520440"/>
            <a:ext cx="411480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4892040" y="3520440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263640" y="3520440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(patience=2)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754880" y="3895344"/>
            <a:ext cx="4114800" cy="374904"/>
          </a:xfrm>
          <a:prstGeom prst="rect">
            <a:avLst/>
          </a:prstGeom>
          <a:solidFill>
            <a:srgbClr val="F1FAEE"/>
          </a:solidFill>
          <a:ln/>
        </p:spPr>
      </p:sp>
      <p:sp>
        <p:nvSpPr>
          <p:cNvPr id="54" name="Text 52"/>
          <p:cNvSpPr/>
          <p:nvPr/>
        </p:nvSpPr>
        <p:spPr>
          <a:xfrm>
            <a:off x="4892040" y="3895344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</a:p>
        </p:txBody>
      </p:sp>
      <p:sp>
        <p:nvSpPr>
          <p:cNvPr id="55" name="Text 53"/>
          <p:cNvSpPr/>
          <p:nvPr/>
        </p:nvSpPr>
        <p:spPr>
          <a:xfrm>
            <a:off x="6263640" y="3895344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epochs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54880" y="4270248"/>
            <a:ext cx="4114800" cy="374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892040" y="4270248"/>
            <a:ext cx="1371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263640" y="4270248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via val accuracy checkpoint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 &amp; Data Transforms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1B3A5C"/>
          </a:solidFill>
          <a:ln w="19050">
            <a:solidFill>
              <a:srgbClr val="457B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438912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144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 Training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463040"/>
            <a:ext cx="128016" cy="128016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081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transform: Resize(224,224) + ToTensor()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1773936"/>
            <a:ext cx="128016" cy="128016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190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tuple output → outputs[0]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084832"/>
            <a:ext cx="128016" cy="128016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299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epochs, batch=32, validation after each epoch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2395728"/>
            <a:ext cx="128016" cy="128016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408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 as car_model.pth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4114800" cy="1828800"/>
          </a:xfrm>
          <a:prstGeom prst="rect">
            <a:avLst/>
          </a:prstGeom>
          <a:solidFill>
            <a:srgbClr val="1B3A5C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14400"/>
            <a:ext cx="4114800" cy="43891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9144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Training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19472" y="1463040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4081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transforms: Flip, Rotate±15°, ColorJitter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19472" y="1773936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17190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 translate, Normalize ImageNet stats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19472" y="2084832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20299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 epochs with early stopping (patience=5)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19472" y="2395728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3408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saved as best_model.pth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8595360" cy="1874520"/>
          </a:xfrm>
          <a:prstGeom prst="rect">
            <a:avLst/>
          </a:prstGeom>
          <a:solidFill>
            <a:srgbClr val="1B3A5C"/>
          </a:solidFill>
          <a:ln w="1905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926080"/>
            <a:ext cx="8595360" cy="43891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292608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Logic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8912" y="3584448"/>
            <a:ext cx="128016" cy="128016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4930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audio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split into 2-second non-overlapping chunks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" y="3922776"/>
            <a:ext cx="128016" cy="128016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8313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features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→ Mel Spectrogram + MFCC image → both fed to model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8912" y="4261104"/>
            <a:ext cx="128016" cy="128016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1696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filter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predictions with confidence &gt; 70% are kept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45152" y="3584448"/>
            <a:ext cx="128016" cy="128016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4930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car model = class with most valid votes across all chunks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45152" y="3922776"/>
            <a:ext cx="128016" cy="128016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8313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check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ResNet50: if entropy &gt; 2.5 → result flagged as UNCERTAIN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 Metrics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17043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16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D182BEA-F211-35CE-0115-54B2DE7F5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389" y="1124465"/>
            <a:ext cx="2896230" cy="2798805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129A199-F456-27C6-D729-083ED98AB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1" y="1078992"/>
            <a:ext cx="5204419" cy="37897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2011680"/>
          </a:xfrm>
          <a:prstGeom prst="rect">
            <a:avLst/>
          </a:prstGeom>
          <a:solidFill>
            <a:srgbClr val="1B3A5C"/>
          </a:solidFill>
          <a:ln w="19050">
            <a:solidFill>
              <a:srgbClr val="457B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60520" cy="420624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1440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GPU (T4), Drive integration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892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3682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 (not TensorFlow)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2011680"/>
          </a:xfrm>
          <a:prstGeom prst="rect">
            <a:avLst/>
          </a:prstGeom>
          <a:solidFill>
            <a:srgbClr val="1B3A5C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14400"/>
            <a:ext cx="4160520" cy="42062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91440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Processing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audio, Mel Spectrogram, MFCC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1892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audiomentations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augmentation transforms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3682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pydub + ffmpeg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.mp3, .m4a, no-extension files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160520" cy="2011680"/>
          </a:xfrm>
          <a:prstGeom prst="rect">
            <a:avLst/>
          </a:prstGeom>
          <a:solidFill>
            <a:srgbClr val="1B3A5C"/>
          </a:solidFill>
          <a:ln w="1905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54680"/>
            <a:ext cx="4160520" cy="420624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5468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 (Inception v1)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Pretrained, 5 epochs, simple classifier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1330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layers 3+4, Dropout, 20 epochs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6085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torchvision.models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 loading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154680"/>
            <a:ext cx="4160520" cy="2011680"/>
          </a:xfrm>
          <a:prstGeom prst="rect">
            <a:avLst/>
          </a:prstGeom>
          <a:solidFill>
            <a:srgbClr val="1B3A5C"/>
          </a:solidFill>
          <a:ln w="1905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154680"/>
            <a:ext cx="4160520" cy="420624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15468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Confusion Matrix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41330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+ matplotlib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visualisation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46085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torch.topk  </a:t>
            </a: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accuracy computation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397764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3977640" cy="43891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7899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54864" cy="34747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642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Raw Samples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26 audio files — solved via 7-type augmentation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31136"/>
            <a:ext cx="54864" cy="34747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579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Audio Formats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3957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.mp3, .m4a, no-extension — pydub + ffmpeg fallback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724912"/>
            <a:ext cx="54864" cy="34747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517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 Tuple Output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model() returns tuple — must use outputs[0]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218688"/>
            <a:ext cx="54864" cy="34747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455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early stopping + rich data transforms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712464"/>
            <a:ext cx="54864" cy="34747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393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Noise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8770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aug simulates road background noise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26280" y="1078992"/>
            <a:ext cx="43434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1078992"/>
            <a:ext cx="4343400" cy="43891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078992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1728" y="1773936"/>
            <a:ext cx="146304" cy="146304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27" name="Text 25"/>
          <p:cNvSpPr/>
          <p:nvPr/>
        </p:nvSpPr>
        <p:spPr>
          <a:xfrm>
            <a:off x="4901184" y="16642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01184" y="18836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mobile/web app for live horn identification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81728" y="2203704"/>
            <a:ext cx="146304" cy="146304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30" name="Text 28"/>
          <p:cNvSpPr/>
          <p:nvPr/>
        </p:nvSpPr>
        <p:spPr>
          <a:xfrm>
            <a:off x="4901184" y="20939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01184" y="23134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samples per class for higher classification accuracy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81728" y="2633472"/>
            <a:ext cx="146304" cy="146304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33" name="Text 31"/>
          <p:cNvSpPr/>
          <p:nvPr/>
        </p:nvSpPr>
        <p:spPr>
          <a:xfrm>
            <a:off x="4901184" y="25237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01184" y="27432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backbone for potentially better accuracy/speed tradeoff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81728" y="3063240"/>
            <a:ext cx="146304" cy="146304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36" name="Text 34"/>
          <p:cNvSpPr/>
          <p:nvPr/>
        </p:nvSpPr>
        <p:spPr>
          <a:xfrm>
            <a:off x="4901184" y="29535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01184" y="31729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Raspberry Pi for smart traffic intersection systems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81728" y="3493008"/>
            <a:ext cx="146304" cy="146304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39" name="Text 37"/>
          <p:cNvSpPr/>
          <p:nvPr/>
        </p:nvSpPr>
        <p:spPr>
          <a:xfrm>
            <a:off x="4901184" y="33832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Multi-horn Detection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01184" y="36027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multiple simultaneous horns in busy street audio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81728" y="3922776"/>
            <a:ext cx="146304" cy="146304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42" name="Text 40"/>
          <p:cNvSpPr/>
          <p:nvPr/>
        </p:nvSpPr>
        <p:spPr>
          <a:xfrm>
            <a:off x="4901184" y="3813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CNN Hybrid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01184" y="40325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temporal sequence modeling for richer feature capture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768096"/>
            <a:ext cx="8412480" cy="27432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successfully built a complete end-to-end CNN pipeline that identifies car models from horn sounds — using audio features as images and transfer learning on pretrained CNNs.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023360" cy="1188720"/>
          </a:xfrm>
          <a:prstGeom prst="rect">
            <a:avLst/>
          </a:prstGeom>
          <a:solidFill>
            <a:srgbClr val="1B3A5C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94767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874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26 real car horn recordings and expanded to 3,200+ images using 7 augmentation techniques + Mel Spectrogram &amp; MFCC dual features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783080"/>
            <a:ext cx="4023360" cy="1188720"/>
          </a:xfrm>
          <a:prstGeom prst="rect">
            <a:avLst/>
          </a:prstGeom>
          <a:solidFill>
            <a:srgbClr val="1B3A5C"/>
          </a:solidFill>
          <a:ln w="19050">
            <a:solidFill>
              <a:srgbClr val="457B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947672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94376" y="1874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compared two CNN models — GoogLeNet (5 epochs, simple) and ResNet50 (fine-tuned layer3+4, early stopping, richer transforms)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4023360" cy="1188720"/>
          </a:xfrm>
          <a:prstGeom prst="rect">
            <a:avLst/>
          </a:prstGeom>
          <a:solidFill>
            <a:srgbClr val="1B3A5C"/>
          </a:solidFill>
          <a:ln w="1905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319272"/>
            <a:ext cx="457200" cy="457200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2416" y="3246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 robust prediction system with 70% confidence filtering, majority voting across chunks, and entropy-based rejection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3154680"/>
            <a:ext cx="4023360" cy="1188720"/>
          </a:xfrm>
          <a:prstGeom prst="rect">
            <a:avLst/>
          </a:prstGeom>
          <a:solidFill>
            <a:srgbClr val="1B3A5C"/>
          </a:solidFill>
          <a:ln w="1905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319272"/>
            <a:ext cx="457200" cy="45720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94376" y="3246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using Accuracy, Top-3 Accuracy, Precision, Recall, F1-score (macro &amp; weighted) and Confusion Matrix via scikit-learn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48056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1046</Words>
  <Application>Microsoft Office PowerPoint</Application>
  <PresentationFormat>On-screen Show (16:9)</PresentationFormat>
  <Paragraphs>222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Based Car Model Detection Using Car Horn Sample</dc:title>
  <dc:subject>PptxGenJS Presentation</dc:subject>
  <dc:creator>PptxGenJS</dc:creator>
  <cp:lastModifiedBy>Sathvik Choutapally</cp:lastModifiedBy>
  <cp:revision>3</cp:revision>
  <dcterms:created xsi:type="dcterms:W3CDTF">2026-04-19T14:27:06Z</dcterms:created>
  <dcterms:modified xsi:type="dcterms:W3CDTF">2026-04-24T07:04:19Z</dcterms:modified>
</cp:coreProperties>
</file>